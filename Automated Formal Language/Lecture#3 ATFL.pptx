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75" r:id="rId2"/>
    <p:sldId id="258" r:id="rId3"/>
    <p:sldId id="270" r:id="rId4"/>
    <p:sldId id="271" r:id="rId5"/>
    <p:sldId id="273" r:id="rId6"/>
    <p:sldId id="272" r:id="rId7"/>
    <p:sldId id="274" r:id="rId8"/>
    <p:sldId id="261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2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85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55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09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22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1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9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1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8338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90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0694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47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38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2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BBE09-0DDC-48ED-B884-3773A95AD1A5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C6C391-1814-4171-B559-3217B89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2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75" y="2361127"/>
            <a:ext cx="8596668" cy="1320800"/>
          </a:xfrm>
        </p:spPr>
        <p:txBody>
          <a:bodyPr/>
          <a:lstStyle/>
          <a:p>
            <a:pPr algn="ctr"/>
            <a:r>
              <a:rPr lang="en-US" dirty="0" smtClean="0"/>
              <a:t>Lecture #3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86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3030"/>
            <a:ext cx="8596668" cy="67549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 err="1" smtClean="0"/>
              <a:t>Kleene</a:t>
            </a:r>
            <a:r>
              <a:rPr lang="en-US" b="1" u="sng" dirty="0" smtClean="0"/>
              <a:t> Closure/ </a:t>
            </a:r>
            <a:r>
              <a:rPr lang="en-US" b="1" u="sng" dirty="0" err="1" smtClean="0"/>
              <a:t>Kleene</a:t>
            </a:r>
            <a:r>
              <a:rPr lang="en-US" b="1" u="sng" dirty="0" smtClean="0"/>
              <a:t> Star/ </a:t>
            </a:r>
            <a:r>
              <a:rPr lang="en-US" b="1" u="sng" dirty="0" err="1" smtClean="0"/>
              <a:t>Kleene</a:t>
            </a:r>
            <a:r>
              <a:rPr lang="en-US" b="1" u="sng" dirty="0" smtClean="0"/>
              <a:t> Operator:</a:t>
            </a:r>
          </a:p>
          <a:p>
            <a:pPr marL="0" indent="0">
              <a:buNone/>
            </a:pPr>
            <a:r>
              <a:rPr lang="en-US" dirty="0" smtClean="0"/>
              <a:t>		It is undetermined power, represent infinite number of terms can be made including empty string denoted by ‘*’</a:t>
            </a:r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err="1" smtClean="0"/>
              <a:t>Kleene</a:t>
            </a:r>
            <a:r>
              <a:rPr lang="en-US" b="1" u="sng" dirty="0" smtClean="0"/>
              <a:t> </a:t>
            </a:r>
            <a:r>
              <a:rPr lang="en-US" b="1" u="sng" dirty="0"/>
              <a:t>Closure of ‘L’:</a:t>
            </a:r>
            <a:endParaRPr lang="en-US" dirty="0"/>
          </a:p>
          <a:p>
            <a:pPr marL="0" indent="0">
              <a:buNone/>
            </a:pPr>
            <a:r>
              <a:rPr lang="en-US" b="1" i="1" dirty="0"/>
              <a:t>F</a:t>
            </a:r>
            <a:r>
              <a:rPr lang="en-US" b="1" i="1" dirty="0" smtClean="0"/>
              <a:t>ormula:</a:t>
            </a:r>
            <a:r>
              <a:rPr lang="en-US" b="1" dirty="0" smtClean="0"/>
              <a:t> 	L</a:t>
            </a:r>
            <a:r>
              <a:rPr lang="en-US" b="1" baseline="30000" dirty="0"/>
              <a:t>* </a:t>
            </a:r>
            <a:r>
              <a:rPr lang="en-US" b="1" dirty="0"/>
              <a:t>= </a:t>
            </a:r>
            <a:r>
              <a:rPr lang="en-US" b="1" baseline="-25000" dirty="0" err="1"/>
              <a:t>i</a:t>
            </a:r>
            <a:r>
              <a:rPr lang="en-US" b="1" baseline="-25000" dirty="0"/>
              <a:t>=0</a:t>
            </a:r>
            <a:r>
              <a:rPr lang="en-US" b="1" dirty="0"/>
              <a:t>U</a:t>
            </a:r>
            <a:r>
              <a:rPr lang="en-US" b="1" baseline="30000" dirty="0"/>
              <a:t>∞</a:t>
            </a:r>
            <a:r>
              <a:rPr lang="en-US" b="1" dirty="0"/>
              <a:t> Li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Example:-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∑={x},then the </a:t>
            </a:r>
            <a:r>
              <a:rPr lang="en-US" dirty="0" err="1"/>
              <a:t>kleen</a:t>
            </a:r>
            <a:r>
              <a:rPr lang="en-US" dirty="0"/>
              <a:t> closure of x is </a:t>
            </a:r>
          </a:p>
          <a:p>
            <a:pPr marL="0" indent="0">
              <a:buNone/>
            </a:pPr>
            <a:r>
              <a:rPr lang="en-US" dirty="0"/>
              <a:t>x</a:t>
            </a:r>
            <a:r>
              <a:rPr lang="en-US" baseline="30000" dirty="0"/>
              <a:t>*</a:t>
            </a:r>
            <a:r>
              <a:rPr lang="en-US" dirty="0"/>
              <a:t>={1,x,xx,xxx,xxxx,xxxxx,……}</a:t>
            </a:r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Positive Closure</a:t>
            </a:r>
            <a:r>
              <a:rPr lang="en-US" b="1" u="sng" dirty="0"/>
              <a:t>/ </a:t>
            </a:r>
            <a:r>
              <a:rPr lang="en-US" b="1" u="sng" dirty="0" err="1"/>
              <a:t>Kleene</a:t>
            </a:r>
            <a:r>
              <a:rPr lang="en-US" b="1" u="sng" dirty="0"/>
              <a:t> </a:t>
            </a:r>
            <a:r>
              <a:rPr lang="en-US" b="1" u="sng" dirty="0" smtClean="0"/>
              <a:t>Positive/ </a:t>
            </a:r>
            <a:r>
              <a:rPr lang="en-US" b="1" u="sng" dirty="0" err="1"/>
              <a:t>Kleene</a:t>
            </a:r>
            <a:r>
              <a:rPr lang="en-US" b="1" u="sng" dirty="0"/>
              <a:t> </a:t>
            </a:r>
            <a:r>
              <a:rPr lang="en-US" b="1" u="sng" dirty="0" smtClean="0"/>
              <a:t>Plus: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/>
              <a:t>It is undetermined power, represent infinite number of terms can be made </a:t>
            </a:r>
            <a:r>
              <a:rPr lang="en-US" dirty="0" smtClean="0"/>
              <a:t>except </a:t>
            </a:r>
            <a:r>
              <a:rPr lang="en-US" dirty="0"/>
              <a:t>empty string denoted by </a:t>
            </a:r>
            <a:r>
              <a:rPr lang="en-US" dirty="0" smtClean="0"/>
              <a:t>‘+’</a:t>
            </a:r>
            <a:endParaRPr lang="en-US" dirty="0"/>
          </a:p>
          <a:p>
            <a:pPr marL="0" indent="0">
              <a:buNone/>
            </a:pPr>
            <a:r>
              <a:rPr lang="en-US" b="1" u="heavy" dirty="0" smtClean="0"/>
              <a:t>Positive Closure of ‘L’:</a:t>
            </a:r>
            <a:endParaRPr lang="en-US" dirty="0" smtClean="0"/>
          </a:p>
          <a:p>
            <a:pPr marL="0" indent="0">
              <a:buNone/>
            </a:pPr>
            <a:r>
              <a:rPr lang="en-US" b="1" i="1" dirty="0" smtClean="0"/>
              <a:t>Formula</a:t>
            </a:r>
            <a:r>
              <a:rPr lang="en-US" b="1" i="1" dirty="0"/>
              <a:t>:</a:t>
            </a:r>
            <a:r>
              <a:rPr lang="en-US" b="1" dirty="0"/>
              <a:t> </a:t>
            </a:r>
            <a:r>
              <a:rPr lang="en-US" b="1" dirty="0" smtClean="0"/>
              <a:t>	L</a:t>
            </a:r>
            <a:r>
              <a:rPr lang="en-US" b="1" baseline="30000" dirty="0"/>
              <a:t>+</a:t>
            </a:r>
            <a:r>
              <a:rPr lang="en-US" b="1" dirty="0"/>
              <a:t>=   </a:t>
            </a:r>
            <a:r>
              <a:rPr lang="en-US" b="1" baseline="-25000" dirty="0" err="1"/>
              <a:t>i</a:t>
            </a:r>
            <a:r>
              <a:rPr lang="en-US" b="1" baseline="-25000" dirty="0"/>
              <a:t>=1</a:t>
            </a:r>
            <a:r>
              <a:rPr lang="en-US" b="1" dirty="0"/>
              <a:t>U</a:t>
            </a:r>
            <a:r>
              <a:rPr lang="en-US" b="1" baseline="30000" dirty="0"/>
              <a:t>∞</a:t>
            </a:r>
            <a:r>
              <a:rPr lang="en-US" b="1" dirty="0"/>
              <a:t> </a:t>
            </a:r>
            <a:r>
              <a:rPr lang="en-US" b="1" dirty="0" smtClean="0"/>
              <a:t>Li</a:t>
            </a:r>
          </a:p>
          <a:p>
            <a:pPr marL="0" indent="0">
              <a:buNone/>
            </a:pPr>
            <a:r>
              <a:rPr lang="en-US" b="1" u="sng" dirty="0"/>
              <a:t>Example:-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∑={x},then the </a:t>
            </a:r>
            <a:r>
              <a:rPr lang="en-US" dirty="0" smtClean="0"/>
              <a:t>Positive </a:t>
            </a:r>
            <a:r>
              <a:rPr lang="en-US" dirty="0"/>
              <a:t>closure of x is </a:t>
            </a:r>
          </a:p>
          <a:p>
            <a:pPr marL="0" indent="0">
              <a:buNone/>
            </a:pPr>
            <a:r>
              <a:rPr lang="en-US" dirty="0"/>
              <a:t>x</a:t>
            </a:r>
            <a:r>
              <a:rPr lang="en-US" baseline="30000" dirty="0" smtClean="0"/>
              <a:t>*</a:t>
            </a:r>
            <a:r>
              <a:rPr lang="en-US" dirty="0" smtClean="0"/>
              <a:t>={</a:t>
            </a:r>
            <a:r>
              <a:rPr lang="en-US" dirty="0" err="1" smtClean="0"/>
              <a:t>x,xx,xxx,xxxx,xxxxx</a:t>
            </a:r>
            <a:r>
              <a:rPr lang="en-US" dirty="0" smtClean="0"/>
              <a:t>,……}</a:t>
            </a:r>
            <a:endParaRPr lang="en-US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80703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178" y="193184"/>
            <a:ext cx="8596668" cy="604136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Lexico</a:t>
            </a:r>
            <a:r>
              <a:rPr lang="en-US" b="1" u="sng" dirty="0"/>
              <a:t>g</a:t>
            </a:r>
            <a:r>
              <a:rPr lang="en-US" b="1" u="sng" dirty="0" smtClean="0"/>
              <a:t>raphic Order:</a:t>
            </a:r>
            <a:endParaRPr lang="en-US" b="1" u="sng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Method of sequencing a language in which string are grouped by there length i.e. string of shortest length first.</a:t>
            </a:r>
          </a:p>
          <a:p>
            <a:pPr marL="0" indent="0">
              <a:buNone/>
            </a:pPr>
            <a:r>
              <a:rPr lang="en-US" b="1" u="sng" dirty="0" smtClean="0"/>
              <a:t>Language:</a:t>
            </a:r>
            <a:endParaRPr lang="en-US" b="1" u="sng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Set of string with rules.</a:t>
            </a:r>
          </a:p>
          <a:p>
            <a:pPr marL="0" indent="0">
              <a:buNone/>
            </a:pPr>
            <a:r>
              <a:rPr lang="en-US" b="1" u="sng" dirty="0" smtClean="0"/>
              <a:t>English Language</a:t>
            </a:r>
            <a:r>
              <a:rPr lang="en-US" dirty="0" smtClean="0"/>
              <a:t>							</a:t>
            </a:r>
            <a:r>
              <a:rPr lang="en-US" b="1" u="sng" dirty="0" smtClean="0"/>
              <a:t>Language 1</a:t>
            </a:r>
            <a:endParaRPr lang="en-US" b="1" u="sng" dirty="0"/>
          </a:p>
          <a:p>
            <a:pPr marL="0" indent="0">
              <a:buNone/>
            </a:pPr>
            <a:r>
              <a:rPr lang="en-US" dirty="0" smtClean="0"/>
              <a:t>Normal Language							Machine Language(Automata)</a:t>
            </a:r>
          </a:p>
          <a:p>
            <a:pPr marL="0" indent="0">
              <a:buNone/>
            </a:pPr>
            <a:r>
              <a:rPr lang="en-US" dirty="0" smtClean="0"/>
              <a:t>Work	 </a:t>
            </a:r>
            <a:r>
              <a:rPr lang="en-US" dirty="0" err="1" smtClean="0"/>
              <a:t>Wkro</a:t>
            </a:r>
            <a:r>
              <a:rPr lang="en-US" dirty="0" smtClean="0"/>
              <a:t>							Work</a:t>
            </a: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 err="1" smtClean="0"/>
              <a:t>Wkro</a:t>
            </a: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Concerned with rules and meaning			Concerned with just rules/ Syntax not 										with meaning.</a:t>
            </a:r>
          </a:p>
          <a:p>
            <a:pPr marL="0" indent="0">
              <a:buNone/>
            </a:pPr>
            <a:r>
              <a:rPr lang="en-US" dirty="0" smtClean="0"/>
              <a:t>Informal Language 						Formal Language.</a:t>
            </a:r>
          </a:p>
          <a:p>
            <a:pPr marL="0" indent="0" algn="ctr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rgbClr val="FF0000"/>
                </a:solidFill>
              </a:rPr>
              <a:t>Automata focus on Formal Language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076513" y="3004381"/>
            <a:ext cx="352425" cy="114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2147951" y="2947231"/>
            <a:ext cx="209550" cy="1809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78139" y="3050597"/>
            <a:ext cx="104775" cy="114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269500" y="2983837"/>
            <a:ext cx="247650" cy="171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-115910" y="1931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65428" y="3022691"/>
            <a:ext cx="104775" cy="114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856789" y="2955931"/>
            <a:ext cx="247650" cy="171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09239" y="3027991"/>
            <a:ext cx="352425" cy="114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5880677" y="2970841"/>
            <a:ext cx="209550" cy="1809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54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68579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Q# How do Automata accept or reject the input?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Q# How can Automata knows given string is valid or not?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There are different method with which we can define language.</a:t>
            </a:r>
          </a:p>
          <a:p>
            <a:pPr marL="0" indent="0">
              <a:buNone/>
            </a:pPr>
            <a:r>
              <a:rPr lang="en-US" b="1" u="sng" dirty="0" smtClean="0"/>
              <a:t>Descriptive Definition</a:t>
            </a:r>
            <a:r>
              <a:rPr lang="en-US" dirty="0" smtClean="0"/>
              <a:t>:-</a:t>
            </a:r>
          </a:p>
          <a:p>
            <a:r>
              <a:rPr lang="en-US" dirty="0" smtClean="0"/>
              <a:t>It is one of the language defining methods.</a:t>
            </a:r>
          </a:p>
          <a:p>
            <a:r>
              <a:rPr lang="en-US" dirty="0" smtClean="0"/>
              <a:t>In this method, we simply describe the condition imposed on its strings/ Words.</a:t>
            </a:r>
          </a:p>
          <a:p>
            <a:pPr marL="0" indent="0">
              <a:buNone/>
            </a:pPr>
            <a:r>
              <a:rPr lang="en-US" dirty="0" smtClean="0"/>
              <a:t> Example;</a:t>
            </a:r>
          </a:p>
          <a:p>
            <a:pPr marL="0" indent="0">
              <a:buNone/>
            </a:pPr>
            <a:r>
              <a:rPr lang="en-US" dirty="0" smtClean="0"/>
              <a:t>L1={any finite strings of letter that does not start with letter 0}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Example;</a:t>
            </a:r>
          </a:p>
          <a:p>
            <a:pPr marL="0" indent="0">
              <a:buNone/>
            </a:pPr>
            <a:r>
              <a:rPr lang="en-US" dirty="0" smtClean="0"/>
              <a:t>L2={Set of all strings </a:t>
            </a:r>
            <a:r>
              <a:rPr lang="en-US" dirty="0"/>
              <a:t>of letter that </a:t>
            </a:r>
            <a:r>
              <a:rPr lang="en-US" dirty="0" smtClean="0"/>
              <a:t>start </a:t>
            </a:r>
            <a:r>
              <a:rPr lang="en-US" dirty="0"/>
              <a:t>with </a:t>
            </a:r>
            <a:r>
              <a:rPr lang="en-US" dirty="0" smtClean="0"/>
              <a:t>a and end with a}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533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60609"/>
            <a:ext cx="8596668" cy="5680754"/>
          </a:xfrm>
        </p:spPr>
        <p:txBody>
          <a:bodyPr/>
          <a:lstStyle/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DEFINING </a:t>
            </a:r>
            <a:r>
              <a:rPr lang="en-US" b="1" u="sng" dirty="0"/>
              <a:t>A LANGUAGE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If  </a:t>
            </a:r>
            <a:r>
              <a:rPr lang="en-US" dirty="0"/>
              <a:t>∑={0,1}</a:t>
            </a:r>
          </a:p>
          <a:p>
            <a:pPr marL="0" indent="0">
              <a:buNone/>
            </a:pPr>
            <a:r>
              <a:rPr lang="en-US" dirty="0"/>
              <a:t>    Then, words produced by this language</a:t>
            </a:r>
          </a:p>
          <a:p>
            <a:pPr marL="0" indent="0">
              <a:buNone/>
            </a:pPr>
            <a:r>
              <a:rPr lang="en-US" dirty="0"/>
              <a:t>L={0,1,00,11,10,111,001,110,……}</a:t>
            </a:r>
          </a:p>
          <a:p>
            <a:pPr marL="0" indent="0">
              <a:buNone/>
            </a:pPr>
            <a:r>
              <a:rPr lang="en-US" dirty="0"/>
              <a:t>     Consider another alphabet </a:t>
            </a:r>
          </a:p>
          <a:p>
            <a:pPr marL="0" indent="0">
              <a:buNone/>
            </a:pPr>
            <a:r>
              <a:rPr lang="en-US" dirty="0"/>
              <a:t>∑={</a:t>
            </a:r>
            <a:r>
              <a:rPr lang="en-US" dirty="0" err="1"/>
              <a:t>a,b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 Then, words produced by this language are:</a:t>
            </a:r>
          </a:p>
          <a:p>
            <a:pPr marL="0" indent="0">
              <a:buNone/>
            </a:pPr>
            <a:r>
              <a:rPr lang="en-US" dirty="0"/>
              <a:t>L={</a:t>
            </a:r>
            <a:r>
              <a:rPr lang="en-US" dirty="0" err="1"/>
              <a:t>a,b,aa,bb,abb,baa,aabb,aabaa</a:t>
            </a:r>
            <a:r>
              <a:rPr lang="en-US" dirty="0"/>
              <a:t>,……}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7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677863" y="0"/>
            <a:ext cx="8596312" cy="6042025"/>
          </a:xfrm>
        </p:spPr>
        <p:txBody>
          <a:bodyPr/>
          <a:lstStyle/>
          <a:p>
            <a:pPr marL="0" indent="0">
              <a:buNone/>
            </a:pPr>
            <a:endParaRPr lang="en-US" b="1" i="1" dirty="0" smtClean="0"/>
          </a:p>
          <a:p>
            <a:pPr marL="0" indent="0">
              <a:buNone/>
            </a:pPr>
            <a:r>
              <a:rPr lang="en-US" dirty="0" smtClean="0"/>
              <a:t>Q# </a:t>
            </a:r>
            <a:r>
              <a:rPr lang="en-US" dirty="0"/>
              <a:t>Consider the language s</a:t>
            </a:r>
            <a:r>
              <a:rPr lang="en-US" baseline="30000" dirty="0" smtClean="0"/>
              <a:t>*</a:t>
            </a:r>
          </a:p>
          <a:p>
            <a:pPr marL="0" indent="0">
              <a:buNone/>
            </a:pPr>
            <a:r>
              <a:rPr lang="en-US" baseline="30000" dirty="0"/>
              <a:t>	</a:t>
            </a:r>
            <a:r>
              <a:rPr lang="en-US" dirty="0" smtClean="0"/>
              <a:t> </a:t>
            </a:r>
            <a:r>
              <a:rPr lang="en-US" dirty="0"/>
              <a:t>where s={</a:t>
            </a:r>
            <a:r>
              <a:rPr lang="en-US" dirty="0" err="1"/>
              <a:t>a,b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a) How many words </a:t>
            </a:r>
            <a:r>
              <a:rPr lang="en-US" dirty="0" smtClean="0"/>
              <a:t>does this </a:t>
            </a:r>
            <a:r>
              <a:rPr lang="en-US" dirty="0"/>
              <a:t>language have of length 2?</a:t>
            </a:r>
          </a:p>
          <a:p>
            <a:pPr marL="0" indent="0">
              <a:buNone/>
            </a:pPr>
            <a:r>
              <a:rPr lang="en-US" dirty="0"/>
              <a:t>b) How many words </a:t>
            </a:r>
            <a:r>
              <a:rPr lang="en-US" dirty="0" smtClean="0"/>
              <a:t>does this </a:t>
            </a:r>
            <a:r>
              <a:rPr lang="en-US" dirty="0"/>
              <a:t>language have of length 3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dirty="0" smtClean="0"/>
              <a:t>c)</a:t>
            </a:r>
            <a:r>
              <a:rPr lang="en-US" dirty="0"/>
              <a:t> How many words does this language have of length </a:t>
            </a:r>
            <a:r>
              <a:rPr lang="en-US" dirty="0" smtClean="0"/>
              <a:t>n?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Formula: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smtClean="0"/>
              <a:t>n</a:t>
            </a:r>
            <a:r>
              <a:rPr lang="en-US" baseline="30000" dirty="0" smtClean="0"/>
              <a:t>m			</a:t>
            </a:r>
            <a:r>
              <a:rPr lang="en-US" dirty="0" smtClean="0"/>
              <a:t> Length/Power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Total </a:t>
            </a:r>
            <a:r>
              <a:rPr lang="en-US" dirty="0"/>
              <a:t>number of letter in </a:t>
            </a:r>
            <a:r>
              <a:rPr lang="en-US" dirty="0" smtClean="0"/>
              <a:t>alphabet</a:t>
            </a:r>
          </a:p>
          <a:p>
            <a:pPr marL="0" indent="0" algn="r">
              <a:buNone/>
            </a:pPr>
            <a:r>
              <a:rPr lang="en-US" dirty="0" smtClean="0"/>
              <a:t>Total number of letter =2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Solution;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/>
              <a:t> 2</a:t>
            </a:r>
            <a:r>
              <a:rPr lang="en-US" baseline="30000" dirty="0"/>
              <a:t>2</a:t>
            </a:r>
            <a:r>
              <a:rPr lang="en-US" dirty="0"/>
              <a:t> =4</a:t>
            </a:r>
          </a:p>
          <a:p>
            <a:pPr marL="0" indent="0">
              <a:buNone/>
            </a:pPr>
            <a:r>
              <a:rPr lang="en-US" dirty="0" smtClean="0"/>
              <a:t>	 	 2</a:t>
            </a:r>
            <a:r>
              <a:rPr lang="en-US" baseline="30000" dirty="0" smtClean="0"/>
              <a:t>3</a:t>
            </a:r>
            <a:r>
              <a:rPr lang="en-US" dirty="0" smtClean="0"/>
              <a:t>=8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 2</a:t>
            </a:r>
            <a:r>
              <a:rPr lang="en-US" baseline="30000" dirty="0" smtClean="0"/>
              <a:t>n </a:t>
            </a:r>
            <a:r>
              <a:rPr lang="en-US" dirty="0"/>
              <a:t>=2</a:t>
            </a:r>
            <a:r>
              <a:rPr lang="en-US" baseline="30000" dirty="0"/>
              <a:t>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764406" y="3090930"/>
            <a:ext cx="347729" cy="270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2446986" y="2962142"/>
            <a:ext cx="1094704" cy="38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31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"/>
            <a:ext cx="8596668" cy="6041362"/>
          </a:xfrm>
        </p:spPr>
        <p:txBody>
          <a:bodyPr/>
          <a:lstStyle/>
          <a:p>
            <a:pPr marL="0" indent="0">
              <a:buNone/>
            </a:pPr>
            <a:endParaRPr lang="en-US" b="1" i="1" dirty="0" smtClean="0"/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i="1" dirty="0" smtClean="0"/>
              <a:t>Q</a:t>
            </a:r>
            <a:r>
              <a:rPr lang="en-US" i="1" dirty="0"/>
              <a:t>) Consider the language s</a:t>
            </a:r>
            <a:r>
              <a:rPr lang="en-US" i="1" baseline="30000" dirty="0"/>
              <a:t>*</a:t>
            </a:r>
            <a:r>
              <a:rPr lang="en-US" i="1" dirty="0"/>
              <a:t> where s={</a:t>
            </a:r>
            <a:r>
              <a:rPr lang="en-US" i="1" dirty="0" err="1"/>
              <a:t>a,b</a:t>
            </a:r>
            <a:r>
              <a:rPr lang="en-US" i="1" dirty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a) How many words of this language have of length 2?</a:t>
            </a:r>
          </a:p>
          <a:p>
            <a:pPr marL="0" indent="0">
              <a:buNone/>
            </a:pPr>
            <a:r>
              <a:rPr lang="en-US" dirty="0"/>
              <a:t>b) How many words of this language have of length 3?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sng" dirty="0"/>
              <a:t>Solution</a:t>
            </a:r>
            <a:r>
              <a:rPr lang="en-US" b="1" dirty="0"/>
              <a:t>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*</a:t>
            </a:r>
            <a:r>
              <a:rPr lang="en-US" dirty="0"/>
              <a:t> ={1,a,b,aa,bb,ab,ba,aab,bab,aabb,aaab,……}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2 </a:t>
            </a:r>
            <a:r>
              <a:rPr lang="en-US" dirty="0"/>
              <a:t>={</a:t>
            </a:r>
            <a:r>
              <a:rPr lang="en-US" dirty="0" err="1"/>
              <a:t>aa,bb,ab,ba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3 </a:t>
            </a:r>
            <a:r>
              <a:rPr lang="en-US" dirty="0"/>
              <a:t>={</a:t>
            </a:r>
            <a:r>
              <a:rPr lang="en-US" dirty="0" err="1"/>
              <a:t>aaa,bbb,aab,baa,bab,aba,abb,bba</a:t>
            </a: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10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44699"/>
            <a:ext cx="8596668" cy="64523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i="1" dirty="0" smtClean="0"/>
          </a:p>
          <a:p>
            <a:pPr marL="0" indent="0">
              <a:buNone/>
            </a:pPr>
            <a:r>
              <a:rPr lang="en-US" i="1" dirty="0" smtClean="0"/>
              <a:t>Q</a:t>
            </a:r>
            <a:r>
              <a:rPr lang="en-US" i="1" dirty="0"/>
              <a:t>) Consider the language s</a:t>
            </a:r>
            <a:r>
              <a:rPr lang="en-US" i="1" baseline="30000" dirty="0"/>
              <a:t>*  </a:t>
            </a:r>
            <a:r>
              <a:rPr lang="en-US" i="1" dirty="0"/>
              <a:t>where s={</a:t>
            </a:r>
            <a:r>
              <a:rPr lang="en-US" i="1" dirty="0" err="1"/>
              <a:t>aa,b</a:t>
            </a:r>
            <a:r>
              <a:rPr lang="en-US" i="1" dirty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a) How many words of this language have of length 3?</a:t>
            </a:r>
          </a:p>
          <a:p>
            <a:pPr marL="0" indent="0">
              <a:buNone/>
            </a:pPr>
            <a:r>
              <a:rPr lang="en-US" dirty="0"/>
              <a:t>b) How many words of this language have of length 4?</a:t>
            </a:r>
          </a:p>
          <a:p>
            <a:pPr marL="0" indent="0">
              <a:buNone/>
            </a:pPr>
            <a:r>
              <a:rPr lang="en-US" dirty="0"/>
              <a:t>c) How many words of this language have of length 5?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sng" dirty="0"/>
              <a:t>Solution</a:t>
            </a:r>
            <a:r>
              <a:rPr lang="en-US" b="1" dirty="0"/>
              <a:t>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*</a:t>
            </a:r>
            <a:r>
              <a:rPr lang="en-US" dirty="0"/>
              <a:t>={1,aa,b,bb,aab,baa,aaaa,aabb,baab,aaaaaa,bbb,aaaab,baaaa,aaaaaaaa,bbbb,aaaabb,aabbb,aabaaaa,aabaab,baaaab,baabaa,bbaaaa,baabb,aaaabaa,bbbaa,bbaab,aabbaa,baaaaaa,aaaaaab,aaaaaaaaaa,bbbbb,aabbbb,aaaaaabb,aaaaaabb</a:t>
            </a:r>
            <a:r>
              <a:rPr lang="en-US" dirty="0" smtClean="0"/>
              <a:t>,…}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3 </a:t>
            </a:r>
            <a:r>
              <a:rPr lang="en-US" dirty="0"/>
              <a:t>={</a:t>
            </a:r>
            <a:r>
              <a:rPr lang="en-US" dirty="0" err="1"/>
              <a:t>aaaaaa,bbb,aaaab,aabaa,aabb,baab,bbaa,baaaa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4</a:t>
            </a:r>
            <a:r>
              <a:rPr lang="en-US" dirty="0"/>
              <a:t>={aaaaaaaa,aaaaaab,aaaabaa,aaaabb,aabaaaa,aabbaa,aabbb,aabbaa,baaaab,baaaaaa,bbaaaa,bbbaa,baaaab,bbaab,baabb,bbbb}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5</a:t>
            </a:r>
            <a:r>
              <a:rPr lang="en-US" dirty="0"/>
              <a:t>={aaaaaaaaaa,aaaaaaaab,aaaaaabaa,aaaaaabb,aaaabaaaa,aaaabaab,aaaabbaa,aaaabbb,aabaaaaaa,aabaaaab,aabaabaa,aabaabb,aabbaaaa,aabbaab,aabbbaa,aabbbb,baaaaaaaa,baaaaaab,baaaabaa,baaaabb,baabaaaa,baabaab,baabbaa,baabbb,bbaaaaaa,bbaaaab,bbaabaa,bbaabb,bbbaaaa,bbbaab,bbbbaa,bbbbb</a:t>
            </a: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0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Example</a:t>
            </a:r>
            <a:r>
              <a:rPr lang="en-US" b="1" dirty="0"/>
              <a:t>:-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If s is a set of words so,</a:t>
            </a:r>
          </a:p>
          <a:p>
            <a:pPr marL="0" indent="0">
              <a:buNone/>
            </a:pPr>
            <a:r>
              <a:rPr lang="en-US" dirty="0"/>
              <a:t>            If s={</a:t>
            </a:r>
            <a:r>
              <a:rPr lang="en-US" dirty="0" err="1"/>
              <a:t>aa,b</a:t>
            </a:r>
            <a:r>
              <a:rPr lang="en-US" dirty="0"/>
              <a:t>} then,</a:t>
            </a:r>
          </a:p>
          <a:p>
            <a:pPr marL="0" indent="0">
              <a:buNone/>
            </a:pPr>
            <a:r>
              <a:rPr lang="en-US" dirty="0"/>
              <a:t>            s</a:t>
            </a:r>
            <a:r>
              <a:rPr lang="en-US" baseline="30000" dirty="0"/>
              <a:t>*</a:t>
            </a:r>
            <a:r>
              <a:rPr lang="en-US" dirty="0"/>
              <a:t>={1,plus any word compose the factor of </a:t>
            </a:r>
            <a:r>
              <a:rPr lang="en-US" dirty="0" err="1"/>
              <a:t>aa</a:t>
            </a:r>
            <a:r>
              <a:rPr lang="en-US" dirty="0"/>
              <a:t> &amp; b}</a:t>
            </a:r>
          </a:p>
          <a:p>
            <a:pPr marL="0" indent="0">
              <a:buNone/>
            </a:pPr>
            <a:r>
              <a:rPr lang="en-US" b="1" u="sng" dirty="0" smtClean="0"/>
              <a:t>Solution</a:t>
            </a:r>
            <a:r>
              <a:rPr lang="en-US" b="1" dirty="0"/>
              <a:t>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*</a:t>
            </a:r>
            <a:r>
              <a:rPr lang="en-US" dirty="0"/>
              <a:t>={1,aa,b,aab,baa,baab,aabb,aabbb,baabb,……}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*</a:t>
            </a:r>
            <a:r>
              <a:rPr lang="en-US" dirty="0"/>
              <a:t>={1,plus all the strings of a’s and b’s in which ‘a’ always occur in an even clumps}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sng" dirty="0"/>
              <a:t>Example</a:t>
            </a:r>
            <a:r>
              <a:rPr lang="en-US" b="1" dirty="0"/>
              <a:t>:-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If s is a set of words so,</a:t>
            </a:r>
          </a:p>
          <a:p>
            <a:pPr marL="0" indent="0">
              <a:buNone/>
            </a:pPr>
            <a:r>
              <a:rPr lang="en-US" dirty="0"/>
              <a:t>            If s={</a:t>
            </a:r>
            <a:r>
              <a:rPr lang="en-US" dirty="0" err="1"/>
              <a:t>a,ab</a:t>
            </a:r>
            <a:r>
              <a:rPr lang="en-US" dirty="0"/>
              <a:t>}then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*</a:t>
            </a:r>
            <a:r>
              <a:rPr lang="en-US" dirty="0"/>
              <a:t>={1,plus any number compose the factors of a &amp; </a:t>
            </a:r>
            <a:r>
              <a:rPr lang="en-US" dirty="0" err="1"/>
              <a:t>ab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u="sng" dirty="0"/>
              <a:t>Solution:-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*</a:t>
            </a:r>
            <a:r>
              <a:rPr lang="en-US" dirty="0"/>
              <a:t>={1,a,ab,aab,aba,aaab,aaba,aaaab,aabaa,aaaba,abaaaa,aaabaa,aaaaba,……}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baseline="30000" dirty="0"/>
              <a:t>*</a:t>
            </a:r>
            <a:r>
              <a:rPr lang="en-US" dirty="0"/>
              <a:t>={1,plus all the strings of a’s &amp; b’s except those that starts with letter ‘b’ and contain a single ‘b</a:t>
            </a:r>
            <a:r>
              <a:rPr lang="en-US" dirty="0" smtClean="0"/>
              <a:t>’}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8FFBD07865B428CF8B6E8FC227FE0" ma:contentTypeVersion="2" ma:contentTypeDescription="Create a new document." ma:contentTypeScope="" ma:versionID="d9c169848c4fca8cefbca414d4ac936f">
  <xsd:schema xmlns:xsd="http://www.w3.org/2001/XMLSchema" xmlns:xs="http://www.w3.org/2001/XMLSchema" xmlns:p="http://schemas.microsoft.com/office/2006/metadata/properties" xmlns:ns2="4b4ae785-5b40-41aa-9be8-e2dc4809edeb" targetNamespace="http://schemas.microsoft.com/office/2006/metadata/properties" ma:root="true" ma:fieldsID="03423c41b0bf4d78c76be07955757213" ns2:_="">
    <xsd:import namespace="4b4ae785-5b40-41aa-9be8-e2dc4809e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ae785-5b40-41aa-9be8-e2dc4809ed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EAB2F3-5AB8-49C1-936E-5D72B03B3F05}"/>
</file>

<file path=customXml/itemProps2.xml><?xml version="1.0" encoding="utf-8"?>
<ds:datastoreItem xmlns:ds="http://schemas.openxmlformats.org/officeDocument/2006/customXml" ds:itemID="{317B8A34-FAA6-49B9-B9E6-6A062E72B96E}"/>
</file>

<file path=customXml/itemProps3.xml><?xml version="1.0" encoding="utf-8"?>
<ds:datastoreItem xmlns:ds="http://schemas.openxmlformats.org/officeDocument/2006/customXml" ds:itemID="{49CD86A3-0FC6-4D09-B55B-EA928BA8A5ED}"/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315</Words>
  <Application>Microsoft Office PowerPoint</Application>
  <PresentationFormat>Widescreen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Lecture #3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14</cp:revision>
  <dcterms:created xsi:type="dcterms:W3CDTF">2020-07-25T05:30:04Z</dcterms:created>
  <dcterms:modified xsi:type="dcterms:W3CDTF">2020-08-03T20:26:22Z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0x0101009288FFBD07865B428CF8B6E8FC227FE0</vt:lpwstr>
  </property>
</Properties>
</file>