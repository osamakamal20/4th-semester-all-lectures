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2"/>
  </p:notesMasterIdLst>
  <p:sldIdLst>
    <p:sldId id="256" r:id="rId5"/>
    <p:sldId id="257" r:id="rId6"/>
    <p:sldId id="258" r:id="rId7"/>
    <p:sldId id="261" r:id="rId8"/>
    <p:sldId id="262" r:id="rId9"/>
    <p:sldId id="263" r:id="rId10"/>
    <p:sldId id="264"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7A00"/>
    <a:srgbClr val="DBF200"/>
    <a:srgbClr val="0000CC"/>
    <a:srgbClr val="9EFF29"/>
    <a:srgbClr val="FF2549"/>
    <a:srgbClr val="007033"/>
    <a:srgbClr val="C33A1F"/>
    <a:srgbClr val="003635"/>
    <a:srgbClr val="D6370C"/>
    <a:srgbClr val="1D3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DBB65D-02A4-4A52-98AB-6515D1DDC5C8}" v="3" dt="2020-07-21T10:19:46.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26" y="6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7/21/2020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246237" y="1504334"/>
            <a:ext cx="7388941" cy="1246241"/>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1275735" y="2875934"/>
            <a:ext cx="7382308" cy="803786"/>
          </a:xfrm>
        </p:spPr>
        <p:txBody>
          <a:bodyPr>
            <a:normAutofit/>
          </a:bodyPr>
          <a:lstStyle>
            <a:lvl1pPr marL="0" indent="0" algn="r">
              <a:buNone/>
              <a:defRPr sz="2800" b="0" i="0">
                <a:solidFill>
                  <a:srgbClr val="DBF2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6696" y="224334"/>
            <a:ext cx="8259098" cy="763526"/>
          </a:xfrm>
        </p:spPr>
        <p:txBody>
          <a:bodyPr>
            <a:normAutofit/>
          </a:bodyPr>
          <a:lstStyle>
            <a:lvl1pPr algn="r">
              <a:defRPr sz="3600" baseline="0">
                <a:solidFill>
                  <a:srgbClr val="DBF2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63714" y="1216742"/>
            <a:ext cx="8246070" cy="3561734"/>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25511" y="318046"/>
            <a:ext cx="6224988" cy="725349"/>
          </a:xfrm>
        </p:spPr>
        <p:txBody>
          <a:bodyPr>
            <a:normAutofit/>
          </a:bodyPr>
          <a:lstStyle>
            <a:lvl1pPr algn="l">
              <a:defRPr sz="3600">
                <a:solidFill>
                  <a:srgbClr val="6E7A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418734" y="1069258"/>
            <a:ext cx="6245943" cy="361923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7/21/2020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7944" y="227401"/>
            <a:ext cx="8093365" cy="763525"/>
          </a:xfrm>
        </p:spPr>
        <p:txBody>
          <a:bodyPr>
            <a:normAutofit/>
          </a:bodyPr>
          <a:lstStyle>
            <a:lvl1pPr algn="r">
              <a:defRPr sz="3600" baseline="0">
                <a:solidFill>
                  <a:srgbClr val="DBF2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22131" y="1559652"/>
            <a:ext cx="4040188" cy="479822"/>
          </a:xfrm>
        </p:spPr>
        <p:txBody>
          <a:bodyPr anchor="b"/>
          <a:lstStyle>
            <a:lvl1pPr marL="0" indent="0" algn="ctr">
              <a:buNone/>
              <a:defRPr sz="2400" b="1">
                <a:solidFill>
                  <a:srgbClr val="6E7A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22131" y="2032049"/>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57252" y="1559652"/>
            <a:ext cx="4041775" cy="479822"/>
          </a:xfrm>
        </p:spPr>
        <p:txBody>
          <a:bodyPr anchor="b"/>
          <a:lstStyle>
            <a:lvl1pPr marL="0" indent="0" algn="ctr">
              <a:buNone/>
              <a:defRPr sz="2400" b="1">
                <a:solidFill>
                  <a:srgbClr val="6E7A0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57252" y="2032049"/>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7/21/2020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7/21/2020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7/21/2020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7/21/2020</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Formal_language" TargetMode="External"/><Relationship Id="rId2" Type="http://schemas.openxmlformats.org/officeDocument/2006/relationships/hyperlink" Target="https://en.wikipedia.org/wiki/Automata_theory" TargetMode="External"/><Relationship Id="rId1" Type="http://schemas.openxmlformats.org/officeDocument/2006/relationships/slideLayout" Target="../slideLayouts/slideLayout6.xml"/><Relationship Id="rId5" Type="http://schemas.openxmlformats.org/officeDocument/2006/relationships/hyperlink" Target="https://en.wikipedia.org/wiki/Computational_complexity_theory" TargetMode="External"/><Relationship Id="rId4" Type="http://schemas.openxmlformats.org/officeDocument/2006/relationships/hyperlink" Target="https://en.wikipedia.org/wiki/Computability_theor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53654" y="1391569"/>
            <a:ext cx="7027605" cy="1334728"/>
          </a:xfrm>
        </p:spPr>
        <p:txBody>
          <a:bodyPr>
            <a:normAutofit/>
          </a:bodyPr>
          <a:lstStyle/>
          <a:p>
            <a:r>
              <a:rPr lang="en-US" dirty="0"/>
              <a:t>Automata Theory &amp; Formal Language </a:t>
            </a:r>
          </a:p>
        </p:txBody>
      </p:sp>
      <p:sp>
        <p:nvSpPr>
          <p:cNvPr id="3" name="Subtitle 2"/>
          <p:cNvSpPr>
            <a:spLocks noGrp="1"/>
          </p:cNvSpPr>
          <p:nvPr>
            <p:ph type="subTitle" idx="1"/>
          </p:nvPr>
        </p:nvSpPr>
        <p:spPr>
          <a:xfrm>
            <a:off x="6215862" y="2701270"/>
            <a:ext cx="2630184" cy="771395"/>
          </a:xfrm>
        </p:spPr>
        <p:txBody>
          <a:bodyPr>
            <a:normAutofit fontScale="55000" lnSpcReduction="20000"/>
          </a:bodyPr>
          <a:lstStyle/>
          <a:p>
            <a:r>
              <a:rPr lang="en-US" dirty="0"/>
              <a:t>Instructors:</a:t>
            </a:r>
          </a:p>
          <a:p>
            <a:r>
              <a:rPr lang="en-US" dirty="0"/>
              <a:t>Engr. Ali Akbar Siddiqui</a:t>
            </a:r>
          </a:p>
          <a:p>
            <a:r>
              <a:rPr lang="en-US" dirty="0"/>
              <a:t>Engr. </a:t>
            </a:r>
            <a:r>
              <a:rPr lang="en-US" dirty="0" err="1"/>
              <a:t>Mavish</a:t>
            </a:r>
            <a:r>
              <a:rPr lang="en-US" dirty="0"/>
              <a:t> </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Mode of teaching due to an ongoing Pandemic</a:t>
            </a:r>
          </a:p>
        </p:txBody>
      </p:sp>
      <p:sp>
        <p:nvSpPr>
          <p:cNvPr id="3" name="Content Placeholder 2"/>
          <p:cNvSpPr>
            <a:spLocks noGrp="1"/>
          </p:cNvSpPr>
          <p:nvPr>
            <p:ph idx="1"/>
          </p:nvPr>
        </p:nvSpPr>
        <p:spPr>
          <a:xfrm>
            <a:off x="463714" y="1114002"/>
            <a:ext cx="8246070" cy="3561734"/>
          </a:xfrm>
        </p:spPr>
        <p:txBody>
          <a:bodyPr/>
          <a:lstStyle/>
          <a:p>
            <a:r>
              <a:rPr lang="en-US" sz="2000" dirty="0"/>
              <a:t>Lectures will be delivered online.</a:t>
            </a:r>
          </a:p>
          <a:p>
            <a:r>
              <a:rPr lang="en-US" sz="2000" dirty="0"/>
              <a:t>Quizzes and Assignments will be given to the students through online VLE portal.</a:t>
            </a:r>
          </a:p>
          <a:p>
            <a:pPr marL="0" indent="0">
              <a:buNone/>
            </a:pPr>
            <a:endParaRPr lang="en-US" dirty="0"/>
          </a:p>
          <a:p>
            <a:endParaRPr lang="en-US" dirty="0"/>
          </a:p>
        </p:txBody>
      </p:sp>
      <p:pic>
        <p:nvPicPr>
          <p:cNvPr id="4" name="Picture 3"/>
          <p:cNvPicPr>
            <a:picLocks noChangeAspect="1"/>
          </p:cNvPicPr>
          <p:nvPr/>
        </p:nvPicPr>
        <p:blipFill>
          <a:blip r:embed="rId2"/>
          <a:stretch>
            <a:fillRect/>
          </a:stretch>
        </p:blipFill>
        <p:spPr>
          <a:xfrm>
            <a:off x="565079" y="2234222"/>
            <a:ext cx="7993294" cy="2857908"/>
          </a:xfrm>
          <a:prstGeom prst="rect">
            <a:avLst/>
          </a:prstGeom>
        </p:spPr>
      </p:pic>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Marks Distribution</a:t>
            </a:r>
          </a:p>
        </p:txBody>
      </p:sp>
      <p:sp>
        <p:nvSpPr>
          <p:cNvPr id="6" name="Content Placeholder 5"/>
          <p:cNvSpPr>
            <a:spLocks noGrp="1"/>
          </p:cNvSpPr>
          <p:nvPr>
            <p:ph sz="half" idx="2"/>
          </p:nvPr>
        </p:nvSpPr>
        <p:spPr>
          <a:xfrm>
            <a:off x="517944" y="1596887"/>
            <a:ext cx="5657705" cy="2276294"/>
          </a:xfrm>
        </p:spPr>
        <p:txBody>
          <a:bodyPr/>
          <a:lstStyle/>
          <a:p>
            <a:pPr algn="l"/>
            <a:r>
              <a:rPr lang="en-US" dirty="0"/>
              <a:t>Quizzes   10 Marks (Frequency = 2)</a:t>
            </a:r>
          </a:p>
          <a:p>
            <a:pPr algn="l"/>
            <a:r>
              <a:rPr lang="en-US" dirty="0"/>
              <a:t>Assignments  10 Marks (Frequency = 3)</a:t>
            </a:r>
          </a:p>
          <a:p>
            <a:pPr algn="l"/>
            <a:r>
              <a:rPr lang="en-US" dirty="0"/>
              <a:t>Mid-Term   30 Marks</a:t>
            </a:r>
          </a:p>
          <a:p>
            <a:pPr algn="l"/>
            <a:r>
              <a:rPr lang="en-US" dirty="0"/>
              <a:t>Final  50 Marks </a:t>
            </a:r>
          </a:p>
        </p:txBody>
      </p:sp>
    </p:spTree>
    <p:extLst>
      <p:ext uri="{BB962C8B-B14F-4D97-AF65-F5344CB8AC3E}">
        <p14:creationId xmlns:p14="http://schemas.microsoft.com/office/powerpoint/2010/main" val="4170783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Theory of Computation</a:t>
            </a:r>
          </a:p>
        </p:txBody>
      </p:sp>
      <p:sp>
        <p:nvSpPr>
          <p:cNvPr id="4" name="Content Placeholder 3"/>
          <p:cNvSpPr>
            <a:spLocks noGrp="1"/>
          </p:cNvSpPr>
          <p:nvPr>
            <p:ph sz="half" idx="2"/>
          </p:nvPr>
        </p:nvSpPr>
        <p:spPr>
          <a:xfrm>
            <a:off x="522131" y="1541124"/>
            <a:ext cx="7902678" cy="2767219"/>
          </a:xfrm>
        </p:spPr>
        <p:txBody>
          <a:bodyPr/>
          <a:lstStyle/>
          <a:p>
            <a:pPr algn="just"/>
            <a:r>
              <a:rPr lang="en-US" dirty="0"/>
              <a:t>Basically it a branch of theoretical computer science that deal with the efficiency of the computation model using an algorithm.</a:t>
            </a:r>
          </a:p>
          <a:p>
            <a:pPr algn="just"/>
            <a:r>
              <a:rPr lang="en-US" dirty="0"/>
              <a:t>It is divided into three sub-branches, </a:t>
            </a:r>
            <a:r>
              <a:rPr lang="en-US" dirty="0">
                <a:hlinkClick r:id="rId2" tooltip="Automata theory"/>
              </a:rPr>
              <a:t>automata theory</a:t>
            </a:r>
            <a:r>
              <a:rPr lang="en-US" dirty="0"/>
              <a:t> and </a:t>
            </a:r>
            <a:r>
              <a:rPr lang="en-US" dirty="0">
                <a:hlinkClick r:id="rId3" tooltip="Formal language"/>
              </a:rPr>
              <a:t>formal languages</a:t>
            </a:r>
            <a:r>
              <a:rPr lang="en-US" dirty="0"/>
              <a:t>, </a:t>
            </a:r>
            <a:r>
              <a:rPr lang="en-US" dirty="0">
                <a:hlinkClick r:id="rId4" tooltip="Computability theory"/>
              </a:rPr>
              <a:t>computability theory</a:t>
            </a:r>
            <a:r>
              <a:rPr lang="en-US" dirty="0"/>
              <a:t>, and </a:t>
            </a:r>
            <a:r>
              <a:rPr lang="en-US" dirty="0">
                <a:hlinkClick r:id="rId5" tooltip="Computational complexity theory"/>
              </a:rPr>
              <a:t>computational complexity theory</a:t>
            </a:r>
            <a:r>
              <a:rPr lang="en-US" dirty="0"/>
              <a:t>	</a:t>
            </a:r>
          </a:p>
        </p:txBody>
      </p:sp>
    </p:spTree>
    <p:extLst>
      <p:ext uri="{BB962C8B-B14F-4D97-AF65-F5344CB8AC3E}">
        <p14:creationId xmlns:p14="http://schemas.microsoft.com/office/powerpoint/2010/main" val="1274516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Automata Theory</a:t>
            </a:r>
          </a:p>
        </p:txBody>
      </p:sp>
      <p:sp>
        <p:nvSpPr>
          <p:cNvPr id="4" name="Content Placeholder 3"/>
          <p:cNvSpPr>
            <a:spLocks noGrp="1"/>
          </p:cNvSpPr>
          <p:nvPr>
            <p:ph sz="half" idx="2"/>
          </p:nvPr>
        </p:nvSpPr>
        <p:spPr>
          <a:xfrm>
            <a:off x="517944" y="1333405"/>
            <a:ext cx="8015694" cy="3012563"/>
          </a:xfrm>
        </p:spPr>
        <p:txBody>
          <a:bodyPr>
            <a:normAutofit fontScale="92500" lnSpcReduction="20000"/>
          </a:bodyPr>
          <a:lstStyle/>
          <a:p>
            <a:pPr algn="just"/>
            <a:r>
              <a:rPr lang="en-US" b="1" dirty="0"/>
              <a:t>Automata Theory</a:t>
            </a:r>
            <a:r>
              <a:rPr lang="en-US" dirty="0"/>
              <a:t> is a branch of computer science that deals with designing abstract self-propelled computing devices or simply machines that follow a predetermined sequence of operations automatically and also to design complex problems that can be solved using these machines. An automaton with a finite number of states is called a </a:t>
            </a:r>
            <a:r>
              <a:rPr lang="en-US" b="1" dirty="0"/>
              <a:t>Finite Automaton</a:t>
            </a:r>
            <a:r>
              <a:rPr lang="en-US" dirty="0"/>
              <a:t>.</a:t>
            </a:r>
          </a:p>
          <a:p>
            <a:pPr algn="just"/>
            <a:r>
              <a:rPr lang="en-US" dirty="0"/>
              <a:t>Any machine that takes an input and it is able to perform its task automatically is considered to be an Automata or Automatic Machine. Some examples are Air Conditioners (AC), Microwave Ovens, ATM machines, Computers etc. </a:t>
            </a:r>
          </a:p>
          <a:p>
            <a:pPr algn="just"/>
            <a:endParaRPr lang="en-US" dirty="0"/>
          </a:p>
        </p:txBody>
      </p:sp>
    </p:spTree>
    <p:extLst>
      <p:ext uri="{BB962C8B-B14F-4D97-AF65-F5344CB8AC3E}">
        <p14:creationId xmlns:p14="http://schemas.microsoft.com/office/powerpoint/2010/main" val="176288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study Theory of Automata</a:t>
            </a:r>
          </a:p>
        </p:txBody>
      </p:sp>
      <p:sp>
        <p:nvSpPr>
          <p:cNvPr id="7" name="Content Placeholder 6"/>
          <p:cNvSpPr>
            <a:spLocks noGrp="1"/>
          </p:cNvSpPr>
          <p:nvPr>
            <p:ph idx="1"/>
          </p:nvPr>
        </p:nvSpPr>
        <p:spPr>
          <a:xfrm>
            <a:off x="486696" y="1290947"/>
            <a:ext cx="8246070" cy="2237655"/>
          </a:xfrm>
        </p:spPr>
        <p:txBody>
          <a:bodyPr>
            <a:normAutofit fontScale="92500" lnSpcReduction="20000"/>
          </a:bodyPr>
          <a:lstStyle/>
          <a:p>
            <a:pPr algn="just"/>
            <a:r>
              <a:rPr lang="en-US" sz="2200" dirty="0"/>
              <a:t>It provides us a throw insight about the machines and forces us to systematically understand how machines perform their given tasks without dipping into the hardware details.</a:t>
            </a:r>
          </a:p>
          <a:p>
            <a:pPr algn="just"/>
            <a:r>
              <a:rPr lang="en-US" sz="2200" dirty="0"/>
              <a:t>Learning of Languages and involved computational techniques.</a:t>
            </a:r>
          </a:p>
          <a:p>
            <a:pPr algn="just"/>
            <a:r>
              <a:rPr lang="en-US" sz="2200" dirty="0"/>
              <a:t>Implementation of theoretical machine models which is also known as Abstract Machine.</a:t>
            </a:r>
          </a:p>
          <a:p>
            <a:pPr algn="just"/>
            <a:r>
              <a:rPr lang="en-US" sz="2200" dirty="0"/>
              <a:t>Any Abstract machine is divided into </a:t>
            </a:r>
            <a:r>
              <a:rPr lang="en-US" sz="2200" b="1" u="sng" dirty="0"/>
              <a:t>States</a:t>
            </a:r>
            <a:r>
              <a:rPr lang="en-US" sz="2200" dirty="0"/>
              <a:t> which are represented as </a:t>
            </a:r>
            <a:r>
              <a:rPr lang="en-US" sz="2200" b="1" u="sng" dirty="0"/>
              <a:t>Circles</a:t>
            </a:r>
            <a:r>
              <a:rPr lang="en-US" sz="2200" dirty="0"/>
              <a:t> as given in figure-1 and </a:t>
            </a:r>
            <a:r>
              <a:rPr lang="en-US" sz="2200" b="1" u="sng" dirty="0"/>
              <a:t>Transition</a:t>
            </a:r>
            <a:r>
              <a:rPr lang="en-US" sz="2200" dirty="0"/>
              <a:t> which is represented by </a:t>
            </a:r>
            <a:r>
              <a:rPr lang="en-US" sz="2200" b="1" u="sng" dirty="0"/>
              <a:t>Arrows</a:t>
            </a:r>
            <a:r>
              <a:rPr lang="en-US" sz="2200" dirty="0"/>
              <a:t>. </a:t>
            </a:r>
          </a:p>
        </p:txBody>
      </p:sp>
      <p:sp>
        <p:nvSpPr>
          <p:cNvPr id="8" name="Oval 7"/>
          <p:cNvSpPr/>
          <p:nvPr/>
        </p:nvSpPr>
        <p:spPr>
          <a:xfrm>
            <a:off x="3267181" y="3989225"/>
            <a:ext cx="688368" cy="60617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8" idx="6"/>
            <a:endCxn id="11" idx="2"/>
          </p:cNvCxnSpPr>
          <p:nvPr/>
        </p:nvCxnSpPr>
        <p:spPr>
          <a:xfrm flipV="1">
            <a:off x="3955549" y="4292312"/>
            <a:ext cx="111988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5075429" y="3989224"/>
            <a:ext cx="688368" cy="60617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699689" y="4615985"/>
            <a:ext cx="1539135" cy="34261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Fig. 1</a:t>
            </a:r>
          </a:p>
        </p:txBody>
      </p:sp>
      <p:sp>
        <p:nvSpPr>
          <p:cNvPr id="13" name="Rectangle 12"/>
          <p:cNvSpPr/>
          <p:nvPr/>
        </p:nvSpPr>
        <p:spPr>
          <a:xfrm>
            <a:off x="2882894" y="3694589"/>
            <a:ext cx="1539135" cy="34261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State 1</a:t>
            </a:r>
          </a:p>
        </p:txBody>
      </p:sp>
      <p:sp>
        <p:nvSpPr>
          <p:cNvPr id="14" name="Rectangle 13"/>
          <p:cNvSpPr/>
          <p:nvPr/>
        </p:nvSpPr>
        <p:spPr>
          <a:xfrm>
            <a:off x="3719857" y="4005133"/>
            <a:ext cx="1539135" cy="34261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Transition</a:t>
            </a:r>
          </a:p>
        </p:txBody>
      </p:sp>
      <p:sp>
        <p:nvSpPr>
          <p:cNvPr id="16" name="Rectangle 15"/>
          <p:cNvSpPr/>
          <p:nvPr/>
        </p:nvSpPr>
        <p:spPr>
          <a:xfrm>
            <a:off x="4650045" y="3702046"/>
            <a:ext cx="1539135" cy="342619"/>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State 2</a:t>
            </a:r>
          </a:p>
        </p:txBody>
      </p:sp>
      <p:sp>
        <p:nvSpPr>
          <p:cNvPr id="17" name="Rectangle 16"/>
          <p:cNvSpPr/>
          <p:nvPr/>
        </p:nvSpPr>
        <p:spPr>
          <a:xfrm>
            <a:off x="3061698" y="3694588"/>
            <a:ext cx="2815119" cy="9904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74E5C00A-B7BF-4E77-9DC3-D656563308A7}"/>
              </a:ext>
            </a:extLst>
          </p:cNvPr>
          <p:cNvCxnSpPr/>
          <p:nvPr/>
        </p:nvCxnSpPr>
        <p:spPr>
          <a:xfrm flipH="1" flipV="1">
            <a:off x="3759939" y="4470991"/>
            <a:ext cx="1451344" cy="9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562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8797" y="1329003"/>
            <a:ext cx="6667500" cy="3787527"/>
          </a:xfrm>
          <a:prstGeom prst="rect">
            <a:avLst/>
          </a:prstGeom>
        </p:spPr>
      </p:pic>
    </p:spTree>
    <p:extLst>
      <p:ext uri="{BB962C8B-B14F-4D97-AF65-F5344CB8AC3E}">
        <p14:creationId xmlns:p14="http://schemas.microsoft.com/office/powerpoint/2010/main" val="1439366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288FFBD07865B428CF8B6E8FC227FE0" ma:contentTypeVersion="2" ma:contentTypeDescription="Create a new document." ma:contentTypeScope="" ma:versionID="d9c169848c4fca8cefbca414d4ac936f">
  <xsd:schema xmlns:xsd="http://www.w3.org/2001/XMLSchema" xmlns:xs="http://www.w3.org/2001/XMLSchema" xmlns:p="http://schemas.microsoft.com/office/2006/metadata/properties" xmlns:ns2="4b4ae785-5b40-41aa-9be8-e2dc4809edeb" targetNamespace="http://schemas.microsoft.com/office/2006/metadata/properties" ma:root="true" ma:fieldsID="03423c41b0bf4d78c76be07955757213" ns2:_="">
    <xsd:import namespace="4b4ae785-5b40-41aa-9be8-e2dc4809edeb"/>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ae785-5b40-41aa-9be8-e2dc4809ede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098ABD-C051-4B18-8A44-6B3E72B914B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F8D4591-8740-4677-861D-A20F92A2DD85}">
  <ds:schemaRefs>
    <ds:schemaRef ds:uri="http://schemas.microsoft.com/sharepoint/v3/contenttype/forms"/>
  </ds:schemaRefs>
</ds:datastoreItem>
</file>

<file path=customXml/itemProps3.xml><?xml version="1.0" encoding="utf-8"?>
<ds:datastoreItem xmlns:ds="http://schemas.openxmlformats.org/officeDocument/2006/customXml" ds:itemID="{25E58EDC-A253-4750-8CD2-AFE6219A3FE6}"/>
</file>

<file path=docProps/app.xml><?xml version="1.0" encoding="utf-8"?>
<Properties xmlns="http://schemas.openxmlformats.org/officeDocument/2006/extended-properties" xmlns:vt="http://schemas.openxmlformats.org/officeDocument/2006/docPropsVTypes">
  <TotalTime>0</TotalTime>
  <Words>190</Words>
  <Application>Microsoft Office PowerPoint</Application>
  <PresentationFormat>On-screen Show (16:9)</PresentationFormat>
  <Paragraphs>27</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Automata Theory &amp; Formal Language </vt:lpstr>
      <vt:lpstr>Mode of teaching due to an ongoing Pandemic</vt:lpstr>
      <vt:lpstr>Marks Distribution</vt:lpstr>
      <vt:lpstr>Theory of Computation</vt:lpstr>
      <vt:lpstr>Automata Theory</vt:lpstr>
      <vt:lpstr>Why study Theory of Automata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Automata Theory &amp; Formal Language </dc:title>
  <dc:creator/>
  <cp:lastModifiedBy/>
  <cp:revision>4</cp:revision>
  <dcterms:created xsi:type="dcterms:W3CDTF">2017-08-01T15:40:51Z</dcterms:created>
  <dcterms:modified xsi:type="dcterms:W3CDTF">2020-07-21T10:19:47Z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0x0101009288FFBD07865B428CF8B6E8FC227FE0</vt:lpwstr>
  </property>
</Properties>
</file>